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Montserrat"/>
      <p:regular r:id="rId12"/>
      <p:bold r:id="rId13"/>
      <p:italic r:id="rId14"/>
      <p:boldItalic r:id="rId15"/>
    </p:embeddedFont>
    <p:embeddedFont>
      <p:font typeface="Lato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Montserrat-bold.fntdata"/><Relationship Id="rId12" Type="http://schemas.openxmlformats.org/officeDocument/2006/relationships/font" Target="fonts/Montserrat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boldItalic.fntdata"/><Relationship Id="rId14" Type="http://schemas.openxmlformats.org/officeDocument/2006/relationships/font" Target="fonts/Montserrat-italic.fntdata"/><Relationship Id="rId17" Type="http://schemas.openxmlformats.org/officeDocument/2006/relationships/font" Target="fonts/Lato-bold.fntdata"/><Relationship Id="rId16" Type="http://schemas.openxmlformats.org/officeDocument/2006/relationships/font" Target="fonts/Lato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boldItalic.fntdata"/><Relationship Id="rId6" Type="http://schemas.openxmlformats.org/officeDocument/2006/relationships/slide" Target="slides/slide1.xml"/><Relationship Id="rId18" Type="http://schemas.openxmlformats.org/officeDocument/2006/relationships/font" Target="fonts/Lat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9e0100db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a9e0100db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a9e0100dbd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a9e0100dbd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9e0100dbd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a9e0100dbd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9e0100dbd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9e0100dbd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9e0100dbd_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a9e0100dbd_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4237550" y="640825"/>
            <a:ext cx="2545200" cy="8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>
                <a:solidFill>
                  <a:srgbClr val="434343"/>
                </a:solidFill>
              </a:rPr>
              <a:t>P</a:t>
            </a:r>
            <a:r>
              <a:rPr b="1" lang="es-419">
                <a:solidFill>
                  <a:srgbClr val="666666"/>
                </a:solidFill>
              </a:rPr>
              <a:t>ro</a:t>
            </a:r>
            <a:r>
              <a:rPr b="1" lang="es-419">
                <a:solidFill>
                  <a:srgbClr val="999999"/>
                </a:solidFill>
              </a:rPr>
              <a:t>y</a:t>
            </a:r>
            <a:r>
              <a:rPr b="1" lang="es-419">
                <a:solidFill>
                  <a:srgbClr val="B7B7B7"/>
                </a:solidFill>
              </a:rPr>
              <a:t>e</a:t>
            </a:r>
            <a:r>
              <a:rPr b="1" lang="es-419">
                <a:solidFill>
                  <a:srgbClr val="EFEFEF"/>
                </a:solidFill>
              </a:rPr>
              <a:t>c</a:t>
            </a:r>
            <a:r>
              <a:rPr b="1" lang="es-419">
                <a:solidFill>
                  <a:srgbClr val="F3F3F3"/>
                </a:solidFill>
              </a:rPr>
              <a:t>t</a:t>
            </a:r>
            <a:r>
              <a:rPr b="1" lang="es-419">
                <a:solidFill>
                  <a:srgbClr val="FFFFFF"/>
                </a:solidFill>
              </a:rPr>
              <a:t>o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135" name="Google Shape;135;p13"/>
          <p:cNvSpPr txBox="1"/>
          <p:nvPr>
            <p:ph type="ctrTitle"/>
          </p:nvPr>
        </p:nvSpPr>
        <p:spPr>
          <a:xfrm>
            <a:off x="3215725" y="2168850"/>
            <a:ext cx="5017500" cy="8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>
                <a:solidFill>
                  <a:srgbClr val="FF0000"/>
                </a:solidFill>
              </a:rPr>
              <a:t>F</a:t>
            </a:r>
            <a:r>
              <a:rPr b="1" lang="es-419">
                <a:solidFill>
                  <a:srgbClr val="0000FF"/>
                </a:solidFill>
              </a:rPr>
              <a:t>a</a:t>
            </a:r>
            <a:r>
              <a:rPr b="1" lang="es-419">
                <a:solidFill>
                  <a:srgbClr val="9900FF"/>
                </a:solidFill>
              </a:rPr>
              <a:t>b</a:t>
            </a:r>
            <a:r>
              <a:rPr b="1" lang="es-419">
                <a:solidFill>
                  <a:srgbClr val="FFFF00"/>
                </a:solidFill>
              </a:rPr>
              <a:t>r</a:t>
            </a:r>
            <a:r>
              <a:rPr b="1" lang="es-419">
                <a:solidFill>
                  <a:srgbClr val="00FF00"/>
                </a:solidFill>
              </a:rPr>
              <a:t>i</a:t>
            </a:r>
            <a:r>
              <a:rPr b="1" lang="es-419">
                <a:solidFill>
                  <a:srgbClr val="FF0000"/>
                </a:solidFill>
              </a:rPr>
              <a:t>c</a:t>
            </a:r>
            <a:r>
              <a:rPr b="1" lang="es-419">
                <a:solidFill>
                  <a:srgbClr val="0000FF"/>
                </a:solidFill>
              </a:rPr>
              <a:t>a</a:t>
            </a:r>
            <a:r>
              <a:rPr b="1" lang="es-419">
                <a:solidFill>
                  <a:schemeClr val="dk1"/>
                </a:solidFill>
              </a:rPr>
              <a:t> </a:t>
            </a:r>
            <a:r>
              <a:rPr b="1" lang="es-419">
                <a:solidFill>
                  <a:srgbClr val="9900FF"/>
                </a:solidFill>
              </a:rPr>
              <a:t>d</a:t>
            </a:r>
            <a:r>
              <a:rPr b="1" lang="es-419">
                <a:solidFill>
                  <a:srgbClr val="FFFF00"/>
                </a:solidFill>
              </a:rPr>
              <a:t>e</a:t>
            </a:r>
            <a:r>
              <a:rPr b="1" lang="es-419">
                <a:solidFill>
                  <a:schemeClr val="dk1"/>
                </a:solidFill>
              </a:rPr>
              <a:t> </a:t>
            </a:r>
            <a:r>
              <a:rPr b="1" lang="es-419">
                <a:solidFill>
                  <a:srgbClr val="00FF00"/>
                </a:solidFill>
              </a:rPr>
              <a:t>t</a:t>
            </a:r>
            <a:r>
              <a:rPr b="1" lang="es-419">
                <a:solidFill>
                  <a:srgbClr val="FF0000"/>
                </a:solidFill>
              </a:rPr>
              <a:t>e</a:t>
            </a:r>
            <a:r>
              <a:rPr b="1" lang="es-419">
                <a:solidFill>
                  <a:srgbClr val="0000FF"/>
                </a:solidFill>
              </a:rPr>
              <a:t>l</a:t>
            </a:r>
            <a:r>
              <a:rPr b="1" lang="es-419">
                <a:solidFill>
                  <a:srgbClr val="9900FF"/>
                </a:solidFill>
              </a:rPr>
              <a:t>a</a:t>
            </a:r>
            <a:r>
              <a:rPr b="1" lang="es-419">
                <a:solidFill>
                  <a:srgbClr val="FFFF00"/>
                </a:solidFill>
              </a:rPr>
              <a:t>s</a:t>
            </a:r>
            <a:endParaRPr b="1">
              <a:solidFill>
                <a:srgbClr val="FFFF00"/>
              </a:solidFill>
            </a:endParaRPr>
          </a:p>
        </p:txBody>
      </p:sp>
      <p:sp>
        <p:nvSpPr>
          <p:cNvPr id="136" name="Google Shape;136;p13"/>
          <p:cNvSpPr txBox="1"/>
          <p:nvPr/>
        </p:nvSpPr>
        <p:spPr>
          <a:xfrm>
            <a:off x="3001400" y="1446625"/>
            <a:ext cx="5017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4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s-419" sz="40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In</a:t>
            </a:r>
            <a:r>
              <a:rPr b="1" lang="es-419" sz="4000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te</a:t>
            </a:r>
            <a:r>
              <a:rPr b="1" lang="es-419" sz="400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rd</a:t>
            </a:r>
            <a:r>
              <a:rPr b="1" lang="es-419" sz="4000">
                <a:solidFill>
                  <a:srgbClr val="B7B7B7"/>
                </a:solidFill>
                <a:latin typeface="Montserrat"/>
                <a:ea typeface="Montserrat"/>
                <a:cs typeface="Montserrat"/>
                <a:sym typeface="Montserrat"/>
              </a:rPr>
              <a:t>is</a:t>
            </a:r>
            <a:r>
              <a:rPr b="1" lang="es-419" sz="4000">
                <a:solidFill>
                  <a:srgbClr val="CCCCCC"/>
                </a:solidFill>
                <a:latin typeface="Montserrat"/>
                <a:ea typeface="Montserrat"/>
                <a:cs typeface="Montserrat"/>
                <a:sym typeface="Montserrat"/>
              </a:rPr>
              <a:t>ci</a:t>
            </a:r>
            <a:r>
              <a:rPr b="1" lang="es-419" sz="4000">
                <a:solidFill>
                  <a:srgbClr val="D9D9D9"/>
                </a:solidFill>
                <a:latin typeface="Montserrat"/>
                <a:ea typeface="Montserrat"/>
                <a:cs typeface="Montserrat"/>
                <a:sym typeface="Montserrat"/>
              </a:rPr>
              <a:t>pl</a:t>
            </a:r>
            <a:r>
              <a:rPr b="1" lang="es-419" sz="4000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in</a:t>
            </a:r>
            <a:r>
              <a:rPr b="1" lang="es-419" sz="40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ar</a:t>
            </a:r>
            <a:r>
              <a:rPr b="1" lang="es-419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</a:t>
            </a:r>
            <a:endParaRPr b="1" sz="40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1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/>
          <p:nvPr>
            <p:ph type="ctrTitle"/>
          </p:nvPr>
        </p:nvSpPr>
        <p:spPr>
          <a:xfrm>
            <a:off x="1768050" y="0"/>
            <a:ext cx="5607900" cy="8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/>
              <a:t>Ｉｎｔｅｇｒａｎｔｅs：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4"/>
          <p:cNvSpPr txBox="1"/>
          <p:nvPr>
            <p:ph type="ctrTitle"/>
          </p:nvPr>
        </p:nvSpPr>
        <p:spPr>
          <a:xfrm>
            <a:off x="2192400" y="2571750"/>
            <a:ext cx="5017500" cy="8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dk1"/>
                </a:solidFill>
              </a:rPr>
              <a:t> </a:t>
            </a:r>
            <a:r>
              <a:rPr b="1" lang="es-419">
                <a:solidFill>
                  <a:srgbClr val="9900FF"/>
                </a:solidFill>
              </a:rPr>
              <a:t>Franco Quaremba</a:t>
            </a:r>
            <a:endParaRPr b="1">
              <a:solidFill>
                <a:srgbClr val="9900FF"/>
              </a:solidFill>
            </a:endParaRPr>
          </a:p>
        </p:txBody>
      </p:sp>
      <p:sp>
        <p:nvSpPr>
          <p:cNvPr id="143" name="Google Shape;143;p14"/>
          <p:cNvSpPr txBox="1"/>
          <p:nvPr>
            <p:ph type="ctrTitle"/>
          </p:nvPr>
        </p:nvSpPr>
        <p:spPr>
          <a:xfrm>
            <a:off x="776250" y="805800"/>
            <a:ext cx="7849800" cy="8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>
                <a:solidFill>
                  <a:schemeClr val="accent6"/>
                </a:solidFill>
              </a:rPr>
              <a:t>Nahuel Rodrigo Acevedo Toloza</a:t>
            </a:r>
            <a:endParaRPr b="1">
              <a:solidFill>
                <a:schemeClr val="accent6"/>
              </a:solidFill>
            </a:endParaRPr>
          </a:p>
        </p:txBody>
      </p:sp>
      <p:sp>
        <p:nvSpPr>
          <p:cNvPr id="144" name="Google Shape;144;p14"/>
          <p:cNvSpPr txBox="1"/>
          <p:nvPr>
            <p:ph type="ctrTitle"/>
          </p:nvPr>
        </p:nvSpPr>
        <p:spPr>
          <a:xfrm>
            <a:off x="2839650" y="3377550"/>
            <a:ext cx="5227500" cy="8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3600">
                <a:solidFill>
                  <a:schemeClr val="accent1"/>
                </a:solidFill>
              </a:rPr>
              <a:t>Adrian Hidalgo</a:t>
            </a:r>
            <a:endParaRPr b="1" sz="3600">
              <a:solidFill>
                <a:schemeClr val="accent1"/>
              </a:solidFill>
            </a:endParaRPr>
          </a:p>
        </p:txBody>
      </p:sp>
      <p:sp>
        <p:nvSpPr>
          <p:cNvPr id="145" name="Google Shape;145;p14"/>
          <p:cNvSpPr txBox="1"/>
          <p:nvPr>
            <p:ph type="ctrTitle"/>
          </p:nvPr>
        </p:nvSpPr>
        <p:spPr>
          <a:xfrm>
            <a:off x="1728000" y="1611600"/>
            <a:ext cx="5688000" cy="80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chemeClr val="dk1"/>
                </a:solidFill>
              </a:rPr>
              <a:t> </a:t>
            </a:r>
            <a:r>
              <a:rPr b="1" lang="es-419">
                <a:solidFill>
                  <a:srgbClr val="00FFFF"/>
                </a:solidFill>
              </a:rPr>
              <a:t>Lukas Alexis Gonzalez</a:t>
            </a:r>
            <a:endParaRPr b="1">
              <a:solidFill>
                <a:srgbClr val="00FFFF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1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10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1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5"/>
          <p:cNvSpPr txBox="1"/>
          <p:nvPr>
            <p:ph type="ctrTitle"/>
          </p:nvPr>
        </p:nvSpPr>
        <p:spPr>
          <a:xfrm>
            <a:off x="0" y="0"/>
            <a:ext cx="9144000" cy="6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/>
              <a:t>De que trata el proyecto?</a:t>
            </a:r>
            <a:endParaRPr/>
          </a:p>
        </p:txBody>
      </p:sp>
      <p:sp>
        <p:nvSpPr>
          <p:cNvPr id="151" name="Google Shape;151;p15"/>
          <p:cNvSpPr txBox="1"/>
          <p:nvPr>
            <p:ph idx="1" type="subTitle"/>
          </p:nvPr>
        </p:nvSpPr>
        <p:spPr>
          <a:xfrm>
            <a:off x="247800" y="696600"/>
            <a:ext cx="8648400" cy="4446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377952" lvl="0" marL="0" marR="0" rtl="0" algn="l">
              <a:lnSpc>
                <a:spcPct val="115000"/>
              </a:lnSpc>
              <a:spcBef>
                <a:spcPts val="3216"/>
              </a:spcBef>
              <a:spcAft>
                <a:spcPts val="0"/>
              </a:spcAft>
              <a:buNone/>
            </a:pPr>
            <a:r>
              <a:rPr b="1" lang="es-419" sz="2000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Una fábrica textil tradicional como "Alcoyana" moderniza sus instalaciones y requiere un sistema integral para la gestión de producción, control de calidad, inventario de materias primas y telas terminadas, mantenimiento de maquinaria y logística de distribución, así como una infraestructura de red que garantice disponibilidad, seguridad y escalabilidad. </a:t>
            </a:r>
            <a:endParaRPr b="1" sz="2000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371856" lvl="0" marL="0" marR="222504" rtl="0" algn="l">
              <a:lnSpc>
                <a:spcPct val="115000"/>
              </a:lnSpc>
              <a:spcBef>
                <a:spcPts val="1896"/>
              </a:spcBef>
              <a:spcAft>
                <a:spcPts val="0"/>
              </a:spcAft>
              <a:buNone/>
            </a:pPr>
            <a:r>
              <a:rPr b="1" lang="es-419" sz="2000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El sistema debe ser modular, seguro y escalable, con una interfaz amigable tanto para los operarios como para los supervisores y administradores. </a:t>
            </a:r>
            <a:endParaRPr b="1" sz="21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6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6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7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7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