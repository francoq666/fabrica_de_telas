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Montserrat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Montserrat-regular.fnt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-italic.fntdata"/><Relationship Id="rId47" Type="http://schemas.openxmlformats.org/officeDocument/2006/relationships/font" Target="fonts/Montserrat-bold.fntdata"/><Relationship Id="rId49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9e0100db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9e0100db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9e0100db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9e0100db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9e0100db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9e0100db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9e0100dbd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9e0100dbd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390cc0c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a390cc0c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e0100dbd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e0100dbd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a390cc0c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a390cc0c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390cc0c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a390cc0c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a390cc0c7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a390cc0c7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a390cc0c7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a390cc0c7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a390cc0c7_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a390cc0c7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390cc0c7_3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a390cc0c7_3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a390cc0c7_3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a390cc0c7_3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a390cc0c7_3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a390cc0c7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a390cc0c7_3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a390cc0c7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a390cc0c7_3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a390cc0c7_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390cc0c7_3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a390cc0c7_3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a390cc0c7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a390cc0c7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390cc0c7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a390cc0c7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a390cc0c7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a390cc0c7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a390cc0c7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a390cc0c7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a390cc0c7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a390cc0c7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a390cc0c7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a390cc0c7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a390cc0c7_3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a390cc0c7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a390cc0c7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a390cc0c7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a390cc0c7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a390cc0c7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ba5eaecb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ba5eaecb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ba5eaecb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ba5eaecb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ba5eaecb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ba5eaecb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ba5eaecb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ba5eaecb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ba5eaecb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ba5eaecb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ba5eaecb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ba5eaecb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ba5eaecb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ba5eaecb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ba5eaecb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ba5eaecb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ba5eaecb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ba5eaecb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ba5eaecb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ba5eaecb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bafa1954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bafa1954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bafa1954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abafa1954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bafa1954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bafa1954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jp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jp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jp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jp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Relationship Id="rId4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jpg"/><Relationship Id="rId4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4.jpg"/><Relationship Id="rId4" Type="http://schemas.openxmlformats.org/officeDocument/2006/relationships/image" Target="../media/image26.png"/><Relationship Id="rId5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4.jpg"/><Relationship Id="rId4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jpg"/><Relationship Id="rId4" Type="http://schemas.openxmlformats.org/officeDocument/2006/relationships/image" Target="../media/image6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jpg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jpg"/><Relationship Id="rId4" Type="http://schemas.openxmlformats.org/officeDocument/2006/relationships/image" Target="../media/image4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Relationship Id="rId4" Type="http://schemas.openxmlformats.org/officeDocument/2006/relationships/image" Target="../media/image37.png"/><Relationship Id="rId5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jpg"/><Relationship Id="rId4" Type="http://schemas.openxmlformats.org/officeDocument/2006/relationships/image" Target="../media/image6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9.jp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7.jpg"/><Relationship Id="rId4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7.jpg"/><Relationship Id="rId4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0.jpg"/><Relationship Id="rId4" Type="http://schemas.openxmlformats.org/officeDocument/2006/relationships/image" Target="../media/image6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0.jpg"/><Relationship Id="rId4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2.jpg"/><Relationship Id="rId4" Type="http://schemas.openxmlformats.org/officeDocument/2006/relationships/image" Target="../media/image5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2.jpg"/><Relationship Id="rId4" Type="http://schemas.openxmlformats.org/officeDocument/2006/relationships/image" Target="../media/image6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3.jpg"/><Relationship Id="rId4" Type="http://schemas.openxmlformats.org/officeDocument/2006/relationships/image" Target="../media/image6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3.jp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6.jpg"/><Relationship Id="rId4" Type="http://schemas.openxmlformats.org/officeDocument/2006/relationships/image" Target="../media/image6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6.jpg"/><Relationship Id="rId4" Type="http://schemas.openxmlformats.org/officeDocument/2006/relationships/image" Target="../media/image6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025350" y="487750"/>
            <a:ext cx="3093300" cy="80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</a:rPr>
              <a:t>P</a:t>
            </a:r>
            <a:r>
              <a:rPr b="1" lang="es-419">
                <a:solidFill>
                  <a:srgbClr val="666666"/>
                </a:solidFill>
              </a:rPr>
              <a:t>ro</a:t>
            </a:r>
            <a:r>
              <a:rPr b="1" lang="es-419">
                <a:solidFill>
                  <a:srgbClr val="999999"/>
                </a:solidFill>
              </a:rPr>
              <a:t>y</a:t>
            </a:r>
            <a:r>
              <a:rPr b="1" lang="es-419">
                <a:solidFill>
                  <a:srgbClr val="B7B7B7"/>
                </a:solidFill>
              </a:rPr>
              <a:t>e</a:t>
            </a:r>
            <a:r>
              <a:rPr b="1" lang="es-419">
                <a:solidFill>
                  <a:srgbClr val="EFEFEF"/>
                </a:solidFill>
              </a:rPr>
              <a:t>c</a:t>
            </a:r>
            <a:r>
              <a:rPr b="1" lang="es-419">
                <a:solidFill>
                  <a:srgbClr val="F3F3F3"/>
                </a:solidFill>
              </a:rPr>
              <a:t>t</a:t>
            </a:r>
            <a:r>
              <a:rPr b="1" lang="es-419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2063250" y="2093950"/>
            <a:ext cx="5017500" cy="80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00"/>
                </a:solidFill>
              </a:rPr>
              <a:t>F</a:t>
            </a:r>
            <a:r>
              <a:rPr b="1" lang="es-419">
                <a:solidFill>
                  <a:srgbClr val="0000FF"/>
                </a:solidFill>
              </a:rPr>
              <a:t>a</a:t>
            </a:r>
            <a:r>
              <a:rPr b="1" lang="es-419">
                <a:solidFill>
                  <a:srgbClr val="9900FF"/>
                </a:solidFill>
              </a:rPr>
              <a:t>b</a:t>
            </a:r>
            <a:r>
              <a:rPr b="1" lang="es-419">
                <a:solidFill>
                  <a:srgbClr val="FFFF00"/>
                </a:solidFill>
              </a:rPr>
              <a:t>r</a:t>
            </a:r>
            <a:r>
              <a:rPr b="1" lang="es-419">
                <a:solidFill>
                  <a:srgbClr val="00FF00"/>
                </a:solidFill>
              </a:rPr>
              <a:t>i</a:t>
            </a:r>
            <a:r>
              <a:rPr b="1" lang="es-419">
                <a:solidFill>
                  <a:srgbClr val="FF0000"/>
                </a:solidFill>
              </a:rPr>
              <a:t>c</a:t>
            </a:r>
            <a:r>
              <a:rPr b="1" lang="es-419">
                <a:solidFill>
                  <a:srgbClr val="0000FF"/>
                </a:solidFill>
              </a:rPr>
              <a:t>a</a:t>
            </a:r>
            <a:r>
              <a:rPr b="1" lang="es-419">
                <a:solidFill>
                  <a:schemeClr val="dk1"/>
                </a:solidFill>
              </a:rPr>
              <a:t> </a:t>
            </a:r>
            <a:r>
              <a:rPr b="1" lang="es-419">
                <a:solidFill>
                  <a:srgbClr val="9900FF"/>
                </a:solidFill>
              </a:rPr>
              <a:t>d</a:t>
            </a:r>
            <a:r>
              <a:rPr b="1" lang="es-419">
                <a:solidFill>
                  <a:srgbClr val="FFFF00"/>
                </a:solidFill>
              </a:rPr>
              <a:t>e</a:t>
            </a:r>
            <a:r>
              <a:rPr b="1" lang="es-419">
                <a:solidFill>
                  <a:schemeClr val="dk1"/>
                </a:solidFill>
              </a:rPr>
              <a:t> </a:t>
            </a:r>
            <a:r>
              <a:rPr b="1" lang="es-419">
                <a:solidFill>
                  <a:srgbClr val="00FF00"/>
                </a:solidFill>
              </a:rPr>
              <a:t>t</a:t>
            </a:r>
            <a:r>
              <a:rPr b="1" lang="es-419">
                <a:solidFill>
                  <a:srgbClr val="FF0000"/>
                </a:solidFill>
              </a:rPr>
              <a:t>e</a:t>
            </a:r>
            <a:r>
              <a:rPr b="1" lang="es-419">
                <a:solidFill>
                  <a:srgbClr val="0000FF"/>
                </a:solidFill>
              </a:rPr>
              <a:t>l</a:t>
            </a:r>
            <a:r>
              <a:rPr b="1" lang="es-419">
                <a:solidFill>
                  <a:srgbClr val="9900FF"/>
                </a:solidFill>
              </a:rPr>
              <a:t>a</a:t>
            </a:r>
            <a:r>
              <a:rPr b="1" lang="es-419">
                <a:solidFill>
                  <a:srgbClr val="FFFF00"/>
                </a:solidFill>
              </a:rPr>
              <a:t>s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063250" y="1293550"/>
            <a:ext cx="501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s-419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b="1" lang="es-419" sz="4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</a:t>
            </a:r>
            <a:r>
              <a:rPr b="1" lang="es-419" sz="40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rd</a:t>
            </a:r>
            <a:r>
              <a:rPr b="1" lang="es-419" sz="40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is</a:t>
            </a:r>
            <a:r>
              <a:rPr b="1" lang="es-419" sz="4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ci</a:t>
            </a:r>
            <a:r>
              <a:rPr b="1" lang="es-419" sz="40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pl</a:t>
            </a:r>
            <a:r>
              <a:rPr b="1" lang="es-419" sz="40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b="1" lang="es-419" sz="4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ar</a:t>
            </a:r>
            <a:r>
              <a:rPr b="1" lang="es-419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io</a:t>
            </a:r>
            <a:endParaRPr b="1"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p14:dur="100">
        <p14:gallery dir="l"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1728000" y="228250"/>
            <a:ext cx="5809800" cy="80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200">
                <a:solidFill>
                  <a:schemeClr val="lt1"/>
                </a:solidFill>
              </a:rPr>
              <a:t>Ｉｎｔｅｇｒａｎｔｅs：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>
            <p:ph type="ctrTitle"/>
          </p:nvPr>
        </p:nvSpPr>
        <p:spPr>
          <a:xfrm>
            <a:off x="2388000" y="2645650"/>
            <a:ext cx="4626300" cy="80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800">
                <a:solidFill>
                  <a:schemeClr val="dk1"/>
                </a:solidFill>
              </a:rPr>
              <a:t> </a:t>
            </a:r>
            <a:r>
              <a:rPr b="1" lang="es-419" sz="3800">
                <a:solidFill>
                  <a:srgbClr val="9900FF"/>
                </a:solidFill>
              </a:rPr>
              <a:t>Franco Quaremba</a:t>
            </a:r>
            <a:endParaRPr b="1" sz="3800">
              <a:solidFill>
                <a:srgbClr val="9900FF"/>
              </a:solidFill>
            </a:endParaRPr>
          </a:p>
        </p:txBody>
      </p:sp>
      <p:sp>
        <p:nvSpPr>
          <p:cNvPr id="63" name="Google Shape;63;p14"/>
          <p:cNvSpPr txBox="1"/>
          <p:nvPr>
            <p:ph type="ctrTitle"/>
          </p:nvPr>
        </p:nvSpPr>
        <p:spPr>
          <a:xfrm>
            <a:off x="776250" y="1034050"/>
            <a:ext cx="7849800" cy="80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3800">
                <a:solidFill>
                  <a:schemeClr val="accent6"/>
                </a:solidFill>
              </a:rPr>
              <a:t>Nahuel Rodrigo Acevedo Toloza</a:t>
            </a:r>
            <a:endParaRPr b="1" sz="3800">
              <a:solidFill>
                <a:schemeClr val="accent6"/>
              </a:solidFill>
            </a:endParaRPr>
          </a:p>
        </p:txBody>
      </p:sp>
      <p:sp>
        <p:nvSpPr>
          <p:cNvPr id="64" name="Google Shape;64;p14"/>
          <p:cNvSpPr txBox="1"/>
          <p:nvPr>
            <p:ph type="ctrTitle"/>
          </p:nvPr>
        </p:nvSpPr>
        <p:spPr>
          <a:xfrm>
            <a:off x="2767950" y="3451450"/>
            <a:ext cx="3866400" cy="80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3640">
                <a:solidFill>
                  <a:schemeClr val="accent1"/>
                </a:solidFill>
              </a:rPr>
              <a:t>Adrian Hidalgo</a:t>
            </a:r>
            <a:endParaRPr b="1" sz="3640">
              <a:solidFill>
                <a:schemeClr val="accent1"/>
              </a:solidFill>
            </a:endParaRPr>
          </a:p>
        </p:txBody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1728000" y="1839850"/>
            <a:ext cx="5688000" cy="80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800">
                <a:solidFill>
                  <a:schemeClr val="dk1"/>
                </a:solidFill>
              </a:rPr>
              <a:t> </a:t>
            </a:r>
            <a:r>
              <a:rPr b="1" lang="es-419" sz="3800">
                <a:solidFill>
                  <a:srgbClr val="00FFFF"/>
                </a:solidFill>
              </a:rPr>
              <a:t>Lukas Alexis Gonzalez</a:t>
            </a:r>
            <a:endParaRPr b="1" sz="3800">
              <a:solidFill>
                <a:srgbClr val="00FFFF"/>
              </a:solidFill>
            </a:endParaRPr>
          </a:p>
        </p:txBody>
      </p:sp>
    </p:spTree>
  </p:cSld>
  <p:clrMapOvr>
    <a:masterClrMapping/>
  </p:clrMapOvr>
  <mc:AlternateContent>
    <mc:Choice Requires="p14">
      <p:transition p14:dur="1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2906250" y="318525"/>
            <a:ext cx="42549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Organización: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0" y="1153700"/>
            <a:ext cx="9144000" cy="39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FF0000"/>
                </a:solidFill>
              </a:rPr>
              <a:t>para empezar nos dividimos los cargos:</a:t>
            </a:r>
            <a:endParaRPr b="1" sz="2600">
              <a:solidFill>
                <a:srgbClr val="FF0000"/>
              </a:solidFill>
            </a:endParaRPr>
          </a:p>
          <a:p>
            <a:pPr indent="-3937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600"/>
              <a:buChar char="-"/>
            </a:pPr>
            <a:r>
              <a:rPr b="1" lang="es-419" sz="2600">
                <a:solidFill>
                  <a:srgbClr val="FFFF00"/>
                </a:solidFill>
              </a:rPr>
              <a:t>Lukas: Product Owner</a:t>
            </a:r>
            <a:endParaRPr b="1" sz="2600">
              <a:solidFill>
                <a:srgbClr val="FFFF00"/>
              </a:solidFill>
            </a:endParaRPr>
          </a:p>
          <a:p>
            <a:pPr indent="-3937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600"/>
              <a:buChar char="-"/>
            </a:pPr>
            <a:r>
              <a:rPr b="1" lang="es-419" sz="2600">
                <a:solidFill>
                  <a:srgbClr val="FFFF00"/>
                </a:solidFill>
              </a:rPr>
              <a:t>Franco: Scrum Master</a:t>
            </a:r>
            <a:endParaRPr b="1" sz="2600">
              <a:solidFill>
                <a:srgbClr val="FFFF00"/>
              </a:solidFill>
            </a:endParaRPr>
          </a:p>
          <a:p>
            <a:pPr indent="-3937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600"/>
              <a:buChar char="-"/>
            </a:pPr>
            <a:r>
              <a:rPr b="1" lang="es-419" sz="2600">
                <a:solidFill>
                  <a:srgbClr val="FFFF00"/>
                </a:solidFill>
              </a:rPr>
              <a:t>Rodrigo: Team</a:t>
            </a:r>
            <a:endParaRPr b="1" sz="2600">
              <a:solidFill>
                <a:srgbClr val="FFFF00"/>
              </a:solidFill>
            </a:endParaRPr>
          </a:p>
          <a:p>
            <a:pPr indent="-3937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600"/>
              <a:buChar char="-"/>
            </a:pPr>
            <a:r>
              <a:rPr b="1" lang="es-419" sz="2600">
                <a:solidFill>
                  <a:srgbClr val="FFFF00"/>
                </a:solidFill>
              </a:rPr>
              <a:t>Adrian: Team</a:t>
            </a:r>
            <a:endParaRPr b="1" sz="260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0" y="0"/>
            <a:ext cx="9144000" cy="69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De que trata el proyecto?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247800" y="696600"/>
            <a:ext cx="8648400" cy="444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377952" lvl="0" marL="0" marR="0" rtl="0" algn="ctr">
              <a:lnSpc>
                <a:spcPct val="115000"/>
              </a:lnSpc>
              <a:spcBef>
                <a:spcPts val="3216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Una fábrica textil tradicional como "Alcoyana" moderniza sus instalaciones y requiere un sistema integral para la gestión de producción, control de calidad, inventario de materias primas y telas terminadas, mantenimiento de maquinaria y logística de distribución, así como una infraestructura de red que garantice disponibilidad, seguridad y escalabilidad. </a:t>
            </a:r>
            <a:endParaRPr b="1" sz="200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371856" lvl="0" marL="0" marR="222504" rtl="0" algn="ctr">
              <a:lnSpc>
                <a:spcPct val="115000"/>
              </a:lnSpc>
              <a:spcBef>
                <a:spcPts val="1896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El sistema debe ser modular, seguro y escalable, con una interfaz amigable tanto para los operarios como para los supervisores y administradores. </a:t>
            </a:r>
            <a:endParaRPr b="1" sz="21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11700" y="103475"/>
            <a:ext cx="8520600" cy="10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3980"/>
              <a:t>Distribución</a:t>
            </a:r>
            <a:r>
              <a:rPr b="1" lang="es-419" sz="3980"/>
              <a:t> de tareas Prin</a:t>
            </a:r>
            <a:r>
              <a:rPr b="1" lang="es-419" sz="3980">
                <a:solidFill>
                  <a:schemeClr val="lt1"/>
                </a:solidFill>
              </a:rPr>
              <a:t>cipales:</a:t>
            </a:r>
            <a:endParaRPr b="1" sz="3980">
              <a:solidFill>
                <a:schemeClr val="lt1"/>
              </a:solidFill>
            </a:endParaRPr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267375" y="1208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00"/>
                </a:solidFill>
              </a:rPr>
              <a:t>las tareas primordiales y </a:t>
            </a:r>
            <a:r>
              <a:rPr b="1" lang="es-419">
                <a:solidFill>
                  <a:srgbClr val="FF0000"/>
                </a:solidFill>
              </a:rPr>
              <a:t>más</a:t>
            </a:r>
            <a:r>
              <a:rPr b="1" lang="es-419">
                <a:solidFill>
                  <a:srgbClr val="FF0000"/>
                </a:solidFill>
              </a:rPr>
              <a:t> </a:t>
            </a:r>
            <a:r>
              <a:rPr b="1" lang="es-419">
                <a:solidFill>
                  <a:srgbClr val="FF0000"/>
                </a:solidFill>
              </a:rPr>
              <a:t>importantes</a:t>
            </a:r>
            <a:r>
              <a:rPr b="1" lang="es-419">
                <a:solidFill>
                  <a:srgbClr val="FF0000"/>
                </a:solidFill>
              </a:rPr>
              <a:t> que hizo cada integrante: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73900" y="2175450"/>
            <a:ext cx="9015900" cy="26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Franco: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creación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 del drive y sus carpetas, 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cálculos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 de precios, 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subneteos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investigación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creación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 del GitHub, Cpm, Der, Diagramas de clases Umls  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Rodrigo: Cisco Packet Tracer , Modelo 3D, Planos 2D (de salas individuales y plano completo), Caso de Uso, Tesina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Adrian: Tesina, Base De Datos, 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Diagramas de clases</a:t>
            </a: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 UML, Modelo 3D, Manual de Usuario, Burn Down, Diagrama De Flujo, Gantt, Diseño Frontend y Subneteo 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1"/>
                </a:solidFill>
                <a:highlight>
                  <a:schemeClr val="lt1"/>
                </a:highlight>
              </a:rPr>
              <a:t>Lukas: TOTALIDAD del BackEnd y Springtool, Apis y el FrontEnd (en pocas palabras TODO el codigo)</a:t>
            </a:r>
            <a:endParaRPr b="1" sz="19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ctrTitle"/>
          </p:nvPr>
        </p:nvSpPr>
        <p:spPr>
          <a:xfrm>
            <a:off x="311700" y="103475"/>
            <a:ext cx="8520600" cy="106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3800"/>
              <a:t>Distribución de tareas Sec</a:t>
            </a:r>
            <a:r>
              <a:rPr b="1" lang="es-419" sz="3800">
                <a:solidFill>
                  <a:schemeClr val="lt1"/>
                </a:solidFill>
              </a:rPr>
              <a:t>un</a:t>
            </a:r>
            <a:r>
              <a:rPr b="1" lang="es-419" sz="3800">
                <a:solidFill>
                  <a:schemeClr val="lt1"/>
                </a:solidFill>
              </a:rPr>
              <a:t>darias</a:t>
            </a:r>
            <a:r>
              <a:rPr b="1" lang="es-419" sz="3800">
                <a:solidFill>
                  <a:schemeClr val="lt1"/>
                </a:solidFill>
              </a:rPr>
              <a:t>:</a:t>
            </a:r>
            <a:endParaRPr b="1" sz="3800">
              <a:solidFill>
                <a:schemeClr val="lt1"/>
              </a:solidFill>
            </a:endParaRPr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267375" y="1208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00"/>
                </a:solidFill>
              </a:rPr>
              <a:t>las tareas en las que </a:t>
            </a:r>
            <a:r>
              <a:rPr b="1" lang="es-419">
                <a:solidFill>
                  <a:srgbClr val="FF0000"/>
                </a:solidFill>
              </a:rPr>
              <a:t>ciertas</a:t>
            </a:r>
            <a:r>
              <a:rPr b="1" lang="es-419">
                <a:solidFill>
                  <a:srgbClr val="FF0000"/>
                </a:solidFill>
              </a:rPr>
              <a:t> personas aportaron: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73900" y="2175450"/>
            <a:ext cx="9015900" cy="26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700">
                <a:solidFill>
                  <a:schemeClr val="lt1"/>
                </a:solidFill>
                <a:highlight>
                  <a:schemeClr val="dk1"/>
                </a:highlight>
              </a:rPr>
              <a:t>Franco: Tesina, Cisco packet tracer, modelo 3D, FrontEnd   </a:t>
            </a:r>
            <a:endParaRPr b="1" sz="27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700">
                <a:solidFill>
                  <a:schemeClr val="lt1"/>
                </a:solidFill>
                <a:highlight>
                  <a:schemeClr val="dk1"/>
                </a:highlight>
              </a:rPr>
              <a:t>Rodrigo: Frontend, IPs, Daylis , Drive </a:t>
            </a:r>
            <a:endParaRPr b="1" sz="27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700">
                <a:solidFill>
                  <a:schemeClr val="lt1"/>
                </a:solidFill>
                <a:highlight>
                  <a:schemeClr val="dk1"/>
                </a:highlight>
              </a:rPr>
              <a:t>Adrian: IPs, Drive, CPM, Modelo 2D   </a:t>
            </a:r>
            <a:endParaRPr b="1" sz="27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700">
                <a:solidFill>
                  <a:schemeClr val="lt1"/>
                </a:solidFill>
                <a:highlight>
                  <a:schemeClr val="dk1"/>
                </a:highlight>
              </a:rPr>
              <a:t>Lukas: Tesina, drive</a:t>
            </a:r>
            <a:endParaRPr b="1" sz="27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ctrTitle"/>
          </p:nvPr>
        </p:nvSpPr>
        <p:spPr>
          <a:xfrm>
            <a:off x="2906255" y="0"/>
            <a:ext cx="3331500" cy="9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Caso Raul: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311700" y="3388375"/>
            <a:ext cx="8520600" cy="16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el Alumno </a:t>
            </a:r>
            <a:r>
              <a:rPr lang="es-419">
                <a:solidFill>
                  <a:schemeClr val="lt1"/>
                </a:solidFill>
              </a:rPr>
              <a:t>raúl</a:t>
            </a:r>
            <a:r>
              <a:rPr lang="es-419">
                <a:solidFill>
                  <a:schemeClr val="lt1"/>
                </a:solidFill>
              </a:rPr>
              <a:t> </a:t>
            </a:r>
            <a:r>
              <a:rPr lang="es-419">
                <a:solidFill>
                  <a:schemeClr val="lt1"/>
                </a:solidFill>
              </a:rPr>
              <a:t>martínez</a:t>
            </a:r>
            <a:r>
              <a:rPr lang="es-419">
                <a:solidFill>
                  <a:schemeClr val="lt1"/>
                </a:solidFill>
              </a:rPr>
              <a:t> era parte del team y estaba encargado del FrontEnd pero pronto </a:t>
            </a:r>
            <a:r>
              <a:rPr lang="es-419">
                <a:solidFill>
                  <a:schemeClr val="lt1"/>
                </a:solidFill>
              </a:rPr>
              <a:t>dejó</a:t>
            </a:r>
            <a:r>
              <a:rPr lang="es-419">
                <a:solidFill>
                  <a:schemeClr val="lt1"/>
                </a:solidFill>
              </a:rPr>
              <a:t> de venir a las clases y dejo de contestar los mensajes por ende el trabajo se </a:t>
            </a:r>
            <a:r>
              <a:rPr lang="es-419">
                <a:solidFill>
                  <a:schemeClr val="lt1"/>
                </a:solidFill>
              </a:rPr>
              <a:t>siguió</a:t>
            </a:r>
            <a:r>
              <a:rPr lang="es-419">
                <a:solidFill>
                  <a:schemeClr val="lt1"/>
                </a:solidFill>
              </a:rPr>
              <a:t> sin </a:t>
            </a:r>
            <a:r>
              <a:rPr lang="es-419">
                <a:solidFill>
                  <a:schemeClr val="lt1"/>
                </a:solidFill>
              </a:rPr>
              <a:t>él</a:t>
            </a:r>
            <a:r>
              <a:rPr lang="es-419">
                <a:solidFill>
                  <a:schemeClr val="lt1"/>
                </a:solidFill>
              </a:rPr>
              <a:t>, Lukas se </a:t>
            </a:r>
            <a:r>
              <a:rPr lang="es-419">
                <a:solidFill>
                  <a:schemeClr val="lt1"/>
                </a:solidFill>
              </a:rPr>
              <a:t>encargó</a:t>
            </a:r>
            <a:r>
              <a:rPr lang="es-419">
                <a:solidFill>
                  <a:schemeClr val="lt1"/>
                </a:solidFill>
              </a:rPr>
              <a:t> de casi todo el FrontEnd con unas muy pocas ayudas de Franco y Rodrigo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ctrTitle"/>
          </p:nvPr>
        </p:nvSpPr>
        <p:spPr>
          <a:xfrm>
            <a:off x="3686102" y="0"/>
            <a:ext cx="1771800" cy="9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Drive: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311700" y="3506700"/>
            <a:ext cx="8520600" cy="16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highlight>
                  <a:schemeClr val="dk1"/>
                </a:highlight>
              </a:rPr>
              <a:t>Para el drive hicimos varias carpetas para poder ordenar todo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04" name="Google Shape;104;p20" title="Captura de pantalla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375" y="912600"/>
            <a:ext cx="7338350" cy="25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ctrTitle"/>
          </p:nvPr>
        </p:nvSpPr>
        <p:spPr>
          <a:xfrm>
            <a:off x="3501150" y="0"/>
            <a:ext cx="2141700" cy="8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Dailys: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311700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highlight>
                  <a:schemeClr val="lt1"/>
                </a:highlight>
              </a:rPr>
              <a:t>Aquí</a:t>
            </a:r>
            <a:r>
              <a:rPr lang="es-419">
                <a:solidFill>
                  <a:schemeClr val="dk1"/>
                </a:solidFill>
                <a:highlight>
                  <a:schemeClr val="lt1"/>
                </a:highlight>
              </a:rPr>
              <a:t> guardamos todas y cada unas de las dailys que hicimos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11" name="Google Shape;111;p21" title="Daily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42800"/>
            <a:ext cx="8839200" cy="2951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ctrTitle"/>
          </p:nvPr>
        </p:nvSpPr>
        <p:spPr>
          <a:xfrm>
            <a:off x="341275" y="0"/>
            <a:ext cx="8520600" cy="142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highlight>
                  <a:schemeClr val="lt1"/>
                </a:highlight>
              </a:rPr>
              <a:t>Aquí</a:t>
            </a:r>
            <a:r>
              <a:rPr lang="es-419" sz="3000">
                <a:highlight>
                  <a:schemeClr val="lt1"/>
                </a:highlight>
              </a:rPr>
              <a:t> pusimos las dailys que se hicieron con el grupo para saber </a:t>
            </a:r>
            <a:r>
              <a:rPr lang="es-419" sz="3000">
                <a:highlight>
                  <a:schemeClr val="lt1"/>
                </a:highlight>
              </a:rPr>
              <a:t>qué</a:t>
            </a:r>
            <a:r>
              <a:rPr lang="es-419" sz="3000">
                <a:highlight>
                  <a:schemeClr val="lt1"/>
                </a:highlight>
              </a:rPr>
              <a:t> cosas hicimos y </a:t>
            </a:r>
            <a:r>
              <a:rPr lang="es-419" sz="3000">
                <a:highlight>
                  <a:schemeClr val="lt1"/>
                </a:highlight>
              </a:rPr>
              <a:t>qué</a:t>
            </a:r>
            <a:r>
              <a:rPr lang="es-419" sz="3000">
                <a:highlight>
                  <a:schemeClr val="lt1"/>
                </a:highlight>
              </a:rPr>
              <a:t> cosas nos faltaban </a:t>
            </a:r>
            <a:r>
              <a:rPr lang="es-419" sz="3000">
                <a:highlight>
                  <a:schemeClr val="lt1"/>
                </a:highlight>
              </a:rPr>
              <a:t>además</a:t>
            </a:r>
            <a:r>
              <a:rPr lang="es-419" sz="3000">
                <a:highlight>
                  <a:schemeClr val="lt1"/>
                </a:highlight>
              </a:rPr>
              <a:t> de guardar la tesina</a:t>
            </a:r>
            <a:endParaRPr sz="3000">
              <a:highlight>
                <a:schemeClr val="lt1"/>
              </a:highlight>
            </a:endParaRPr>
          </a:p>
        </p:txBody>
      </p:sp>
      <p:sp>
        <p:nvSpPr>
          <p:cNvPr id="117" name="Google Shape;117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325" y="1638913"/>
            <a:ext cx="8683351" cy="3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ctrTitle"/>
          </p:nvPr>
        </p:nvSpPr>
        <p:spPr>
          <a:xfrm>
            <a:off x="311700" y="679900"/>
            <a:ext cx="8520600" cy="137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chemeClr val="lt1"/>
                </a:highlight>
              </a:rPr>
              <a:t>Interfaz, </a:t>
            </a:r>
            <a:r>
              <a:rPr lang="es-419">
                <a:highlight>
                  <a:schemeClr val="lt1"/>
                </a:highlight>
              </a:rPr>
              <a:t>aquí</a:t>
            </a:r>
            <a:r>
              <a:rPr lang="es-419">
                <a:highlight>
                  <a:schemeClr val="lt1"/>
                </a:highlight>
              </a:rPr>
              <a:t> pusimos las primeras cosas para la interfaz: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24" name="Google Shape;124;p23" title="Interfaz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52594"/>
            <a:ext cx="9144000" cy="3052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ctrTitle"/>
          </p:nvPr>
        </p:nvSpPr>
        <p:spPr>
          <a:xfrm>
            <a:off x="152400" y="872025"/>
            <a:ext cx="8520600" cy="116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highlight>
                  <a:schemeClr val="lt1"/>
                </a:highlight>
              </a:rPr>
              <a:t>Aquí se logra apreciar los “prototipos” visuales de la interfaz, desde los logos hasta el inicio de sesión, que fueron hechos a modo de guia visual</a:t>
            </a:r>
            <a:endParaRPr sz="2700">
              <a:highlight>
                <a:schemeClr val="lt1"/>
              </a:highlight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80575"/>
            <a:ext cx="8839200" cy="2352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ctrTitle"/>
          </p:nvPr>
        </p:nvSpPr>
        <p:spPr>
          <a:xfrm>
            <a:off x="311700" y="0"/>
            <a:ext cx="8520600" cy="12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lt1"/>
                </a:solidFill>
              </a:rPr>
              <a:t>Maqueta 3D: </a:t>
            </a:r>
            <a:r>
              <a:rPr lang="es-419" sz="3600">
                <a:solidFill>
                  <a:schemeClr val="lt1"/>
                </a:solidFill>
              </a:rPr>
              <a:t>aquí</a:t>
            </a:r>
            <a:r>
              <a:rPr lang="es-419" sz="3600">
                <a:solidFill>
                  <a:schemeClr val="lt1"/>
                </a:solidFill>
              </a:rPr>
              <a:t> guardamos el modelo 3D hecho en minecraft para el edificio</a:t>
            </a:r>
            <a:endParaRPr sz="3600">
              <a:solidFill>
                <a:schemeClr val="lt1"/>
              </a:solidFill>
            </a:endParaRPr>
          </a:p>
        </p:txBody>
      </p:sp>
      <p:pic>
        <p:nvPicPr>
          <p:cNvPr id="136" name="Google Shape;136;p25" title="Maqueta 3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85875"/>
            <a:ext cx="9144000" cy="339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ctrTitle"/>
          </p:nvPr>
        </p:nvSpPr>
        <p:spPr>
          <a:xfrm>
            <a:off x="311700" y="0"/>
            <a:ext cx="8520600" cy="11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highlight>
                  <a:schemeClr val="lt1"/>
                </a:highlight>
              </a:rPr>
              <a:t>en esta carpeta pusimos todas las fechas del modelo 3D, es decir el mundo de minecraft que fuimos creando poco a poco, una carpeta de </a:t>
            </a:r>
            <a:r>
              <a:rPr lang="es-419" sz="2000">
                <a:highlight>
                  <a:schemeClr val="lt1"/>
                </a:highlight>
              </a:rPr>
              <a:t>capturas</a:t>
            </a:r>
            <a:r>
              <a:rPr lang="es-419" sz="2000">
                <a:highlight>
                  <a:schemeClr val="lt1"/>
                </a:highlight>
              </a:rPr>
              <a:t> de </a:t>
            </a:r>
            <a:r>
              <a:rPr lang="es-419" sz="2000">
                <a:highlight>
                  <a:schemeClr val="lt1"/>
                </a:highlight>
              </a:rPr>
              <a:t>imágenes </a:t>
            </a:r>
            <a:r>
              <a:rPr lang="es-419" sz="2000">
                <a:highlight>
                  <a:schemeClr val="lt1"/>
                </a:highlight>
              </a:rPr>
              <a:t>del edificio y el instalador de minecraft</a:t>
            </a:r>
            <a:endParaRPr sz="2000">
              <a:highlight>
                <a:schemeClr val="lt1"/>
              </a:highlight>
            </a:endParaRPr>
          </a:p>
        </p:txBody>
      </p:sp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6" title="Captura de pantalla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32948"/>
            <a:ext cx="9143998" cy="2877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highlight>
                  <a:schemeClr val="lt1"/>
                </a:highlight>
              </a:rPr>
              <a:t>Son capturas, tomadas desde arriba, para que sean </a:t>
            </a:r>
            <a:r>
              <a:rPr lang="es-419" sz="2700">
                <a:highlight>
                  <a:schemeClr val="lt1"/>
                </a:highlight>
              </a:rPr>
              <a:t>guías</a:t>
            </a:r>
            <a:r>
              <a:rPr lang="es-419" sz="2700">
                <a:highlight>
                  <a:schemeClr val="lt1"/>
                </a:highlight>
              </a:rPr>
              <a:t> de </a:t>
            </a:r>
            <a:r>
              <a:rPr lang="es-419" sz="2700">
                <a:highlight>
                  <a:schemeClr val="lt1"/>
                </a:highlight>
              </a:rPr>
              <a:t>cómo</a:t>
            </a:r>
            <a:r>
              <a:rPr lang="es-419" sz="2700">
                <a:highlight>
                  <a:schemeClr val="lt1"/>
                </a:highlight>
              </a:rPr>
              <a:t> el Plano 2D </a:t>
            </a:r>
            <a:r>
              <a:rPr lang="es-419" sz="2700">
                <a:highlight>
                  <a:schemeClr val="lt1"/>
                </a:highlight>
              </a:rPr>
              <a:t>debería</a:t>
            </a:r>
            <a:r>
              <a:rPr lang="es-419" sz="2700">
                <a:highlight>
                  <a:schemeClr val="lt1"/>
                </a:highlight>
              </a:rPr>
              <a:t> ser ya que el modelo 3D fue terminado primero antes que el Plano completo</a:t>
            </a:r>
            <a:endParaRPr sz="2700">
              <a:highlight>
                <a:schemeClr val="lt1"/>
              </a:highlight>
            </a:endParaRPr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75" y="3140470"/>
            <a:ext cx="9143999" cy="1862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8" title="Proyecto Antigu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70825"/>
            <a:ext cx="9144000" cy="300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/>
          <p:nvPr>
            <p:ph type="ctrTitle"/>
          </p:nvPr>
        </p:nvSpPr>
        <p:spPr>
          <a:xfrm>
            <a:off x="400375" y="0"/>
            <a:ext cx="8520600" cy="10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highlight>
                  <a:schemeClr val="lt1"/>
                </a:highlight>
              </a:rPr>
              <a:t>Tambien esta el la carpeta del proyecto anterior pero como este no afecta al interdisiplinario no lo vamos a ver</a:t>
            </a:r>
            <a:endParaRPr sz="26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ctrTitle"/>
          </p:nvPr>
        </p:nvSpPr>
        <p:spPr>
          <a:xfrm>
            <a:off x="311700" y="0"/>
            <a:ext cx="8520600" cy="103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Base de datos: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aquí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pusimos el diagrama de base de datos y todo lo relacionado a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excepción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de la base de datos del codigo BackEnd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61" name="Google Shape;161;p29" title="Base de dato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11894"/>
            <a:ext cx="9144000" cy="3052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idx="1" type="subTitle"/>
          </p:nvPr>
        </p:nvSpPr>
        <p:spPr>
          <a:xfrm>
            <a:off x="570350" y="5284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solidFill>
                  <a:schemeClr val="dk1"/>
                </a:solidFill>
                <a:highlight>
                  <a:schemeClr val="lt1"/>
                </a:highlight>
              </a:rPr>
              <a:t>A</a:t>
            </a:r>
            <a:r>
              <a:rPr lang="es-419" sz="2700">
                <a:solidFill>
                  <a:schemeClr val="dk1"/>
                </a:solidFill>
                <a:highlight>
                  <a:schemeClr val="lt1"/>
                </a:highlight>
              </a:rPr>
              <a:t>quí</a:t>
            </a:r>
            <a:r>
              <a:rPr lang="es-419" sz="2700">
                <a:solidFill>
                  <a:schemeClr val="dk1"/>
                </a:solidFill>
                <a:highlight>
                  <a:schemeClr val="lt1"/>
                </a:highlight>
              </a:rPr>
              <a:t> se puede encontrar tanto la base de datos como su respectivo diagrama</a:t>
            </a:r>
            <a:endParaRPr sz="27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4638" y="1638300"/>
            <a:ext cx="5553075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ctrTitle"/>
          </p:nvPr>
        </p:nvSpPr>
        <p:spPr>
          <a:xfrm>
            <a:off x="311700" y="0"/>
            <a:ext cx="8520600" cy="12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Cisco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packet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tracer: bueno aqui guardamos todo lo relacionado, con dicho programa a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excepción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del descargador</a:t>
            </a:r>
            <a:endParaRPr/>
          </a:p>
        </p:txBody>
      </p:sp>
      <p:sp>
        <p:nvSpPr>
          <p:cNvPr id="173" name="Google Shape;173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1" title="Cisco Packet Trac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700" y="1342688"/>
            <a:ext cx="8432600" cy="377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ctrTitle"/>
          </p:nvPr>
        </p:nvSpPr>
        <p:spPr>
          <a:xfrm>
            <a:off x="311700" y="0"/>
            <a:ext cx="8520600" cy="12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dividimos en dos partes, el subneteo y los archivos del cisco</a:t>
            </a:r>
            <a:endParaRPr/>
          </a:p>
        </p:txBody>
      </p:sp>
      <p:pic>
        <p:nvPicPr>
          <p:cNvPr id="180" name="Google Shape;180;p32" title="Captura de pantalla (110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1275" y="1281900"/>
            <a:ext cx="6081460" cy="35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ctrTitle"/>
          </p:nvPr>
        </p:nvSpPr>
        <p:spPr>
          <a:xfrm>
            <a:off x="311700" y="0"/>
            <a:ext cx="8520600" cy="113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en los archivos del cisco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están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toda sy cad auna de las salas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además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de un archivo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llamado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edificio, donde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están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todas las salas</a:t>
            </a:r>
            <a:endParaRPr/>
          </a:p>
        </p:txBody>
      </p:sp>
      <p:pic>
        <p:nvPicPr>
          <p:cNvPr id="186" name="Google Shape;186;p33" title="Captura de pantalla (111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1188" y="1133400"/>
            <a:ext cx="6821618" cy="370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ctrTitle"/>
          </p:nvPr>
        </p:nvSpPr>
        <p:spPr>
          <a:xfrm>
            <a:off x="197225" y="0"/>
            <a:ext cx="8520600" cy="133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para el subneteo lo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dividimos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en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cálculos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para cada miembro del grupo donde cada uno hizo el subneteo, luego lo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guardamos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en un exel</a:t>
            </a:r>
            <a:endParaRPr/>
          </a:p>
        </p:txBody>
      </p:sp>
      <p:pic>
        <p:nvPicPr>
          <p:cNvPr id="192" name="Google Shape;192;p34" title="Captura de pantalla (111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863" y="1335300"/>
            <a:ext cx="7326274" cy="17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4" title="Captura de pantalla (111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1437" y="3072525"/>
            <a:ext cx="2332175" cy="20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ctrTitle"/>
          </p:nvPr>
        </p:nvSpPr>
        <p:spPr>
          <a:xfrm>
            <a:off x="197225" y="0"/>
            <a:ext cx="8520600" cy="133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Cuando lukas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término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buena parte del codigo el lo subio y lo llamamos como lo que era: “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código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”</a:t>
            </a:r>
            <a:endParaRPr/>
          </a:p>
        </p:txBody>
      </p:sp>
      <p:pic>
        <p:nvPicPr>
          <p:cNvPr id="199" name="Google Shape;199;p35" title="Codi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87700"/>
            <a:ext cx="7824929" cy="35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6" title="Captura de pantalla (111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77475"/>
            <a:ext cx="8839202" cy="4066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/>
          <p:nvPr>
            <p:ph type="ctrTitle"/>
          </p:nvPr>
        </p:nvSpPr>
        <p:spPr>
          <a:xfrm>
            <a:off x="197225" y="427350"/>
            <a:ext cx="8520600" cy="9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Información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,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aquí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pusimos DE TODO, diagramas, Umls y muchas otras cosas</a:t>
            </a:r>
            <a:endParaRPr/>
          </a:p>
        </p:txBody>
      </p:sp>
      <p:pic>
        <p:nvPicPr>
          <p:cNvPr id="210" name="Google Shape;210;p37" title="Informac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363" y="1639950"/>
            <a:ext cx="7825264" cy="35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8" title="Captura de pantalla (111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45600"/>
            <a:ext cx="9144000" cy="38979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8"/>
          <p:cNvSpPr txBox="1"/>
          <p:nvPr>
            <p:ph type="ctrTitle"/>
          </p:nvPr>
        </p:nvSpPr>
        <p:spPr>
          <a:xfrm>
            <a:off x="311700" y="0"/>
            <a:ext cx="8520600" cy="9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entre otras cosas, todo tipo de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excels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, todos los diagramas, extras y los planos del modelo 3D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>
            <p:ph type="ctrTitle"/>
          </p:nvPr>
        </p:nvSpPr>
        <p:spPr>
          <a:xfrm>
            <a:off x="311700" y="0"/>
            <a:ext cx="8520600" cy="9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Descargas de archivos,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aquí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pusimos las descargas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de los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programas</a:t>
            </a:r>
            <a:endParaRPr/>
          </a:p>
        </p:txBody>
      </p:sp>
      <p:pic>
        <p:nvPicPr>
          <p:cNvPr id="222" name="Google Shape;222;p39" title="Captura de pantalla (111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4058" y="2965250"/>
            <a:ext cx="4555917" cy="217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9" title="Descargas de archivo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1313" y="860325"/>
            <a:ext cx="4701387" cy="21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type="ctrTitle"/>
          </p:nvPr>
        </p:nvSpPr>
        <p:spPr>
          <a:xfrm>
            <a:off x="311700" y="0"/>
            <a:ext cx="8520600" cy="9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En esta parte Raul estaba haciendo los diseños del FrontEnd pero debido a su ausencia quedaron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allí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incompletos</a:t>
            </a:r>
            <a:endParaRPr/>
          </a:p>
        </p:txBody>
      </p:sp>
      <p:pic>
        <p:nvPicPr>
          <p:cNvPr id="229" name="Google Shape;229;p40" title="Diseños del frontEn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125" y="1212600"/>
            <a:ext cx="8779758" cy="393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ctrTitle"/>
          </p:nvPr>
        </p:nvSpPr>
        <p:spPr>
          <a:xfrm>
            <a:off x="243025" y="0"/>
            <a:ext cx="8520600" cy="9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Diagramas: DFD (Diagrama de Flujo de Datos)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Hecho por A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drián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Hidalgo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35" name="Google Shape;235;p41" title="Captura de pantalla (111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1638" y="908100"/>
            <a:ext cx="4683376" cy="205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1" title="Captura de pantalla (1120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275" y="2961175"/>
            <a:ext cx="3916729" cy="205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1" title="Captura de pantalla (112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961175"/>
            <a:ext cx="3976269" cy="20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 txBox="1"/>
          <p:nvPr>
            <p:ph type="ctrTitle"/>
          </p:nvPr>
        </p:nvSpPr>
        <p:spPr>
          <a:xfrm>
            <a:off x="243025" y="0"/>
            <a:ext cx="8520600" cy="9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Diagramas: Caso De Uso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Hecho por Rodrigo Acevedo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43" name="Google Shape;243;p42" title="Caso de uso (rediseñado)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7488" y="908100"/>
            <a:ext cx="4631685" cy="39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3"/>
          <p:cNvSpPr txBox="1"/>
          <p:nvPr>
            <p:ph type="ctrTitle"/>
          </p:nvPr>
        </p:nvSpPr>
        <p:spPr>
          <a:xfrm>
            <a:off x="243025" y="0"/>
            <a:ext cx="8520600" cy="9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Diagramas: Gantt</a:t>
            </a:r>
            <a:b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</a:b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Hecho Por Adrian Hidalgo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49" name="Google Shape;249;p43" title="Gant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0288" y="1212900"/>
            <a:ext cx="5266070" cy="39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/>
          <p:nvPr>
            <p:ph type="ctrTitle"/>
          </p:nvPr>
        </p:nvSpPr>
        <p:spPr>
          <a:xfrm>
            <a:off x="243025" y="0"/>
            <a:ext cx="8520600" cy="9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Diagramas: Diagrama UML</a:t>
            </a:r>
            <a:b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</a:b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Hecho Por Adrian Hidalgo y Franco Quaremba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55" name="Google Shape;255;p44" title="Diagramas de clases UML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8475" y="1212900"/>
            <a:ext cx="5747044" cy="3930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>
            <p:ph type="ctrTitle"/>
          </p:nvPr>
        </p:nvSpPr>
        <p:spPr>
          <a:xfrm>
            <a:off x="243025" y="0"/>
            <a:ext cx="8520600" cy="9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Diagramas: DER (Diagrama Entidad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Relación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)</a:t>
            </a:r>
            <a:b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</a:b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Hecho Por Franco Quaremba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61" name="Google Shape;261;p45" title="DER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038" y="908100"/>
            <a:ext cx="7241937" cy="39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6"/>
          <p:cNvSpPr txBox="1"/>
          <p:nvPr>
            <p:ph type="ctrTitle"/>
          </p:nvPr>
        </p:nvSpPr>
        <p:spPr>
          <a:xfrm>
            <a:off x="243025" y="0"/>
            <a:ext cx="8520600" cy="9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Diagramas: CPM (Critical Path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Method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)</a:t>
            </a:r>
            <a:b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</a:b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Hecho Por Adrian Hidalgo y Franco Quaremba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67" name="Google Shape;267;p46" title="CPM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75750"/>
            <a:ext cx="9144003" cy="3254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/>
          <p:nvPr>
            <p:ph type="ctrTitle"/>
          </p:nvPr>
        </p:nvSpPr>
        <p:spPr>
          <a:xfrm>
            <a:off x="243025" y="0"/>
            <a:ext cx="8520600" cy="9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Exels: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Cálculos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 y precios</a:t>
            </a:r>
            <a:b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</a:b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Hecho Por Franco Quaremba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73" name="Google Shape;273;p47" title="Captura de pantalla (112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3336" y="908100"/>
            <a:ext cx="6259989" cy="423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8"/>
          <p:cNvSpPr txBox="1"/>
          <p:nvPr>
            <p:ph type="ctrTitle"/>
          </p:nvPr>
        </p:nvSpPr>
        <p:spPr>
          <a:xfrm>
            <a:off x="243025" y="0"/>
            <a:ext cx="8520600" cy="9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Exels: Burn Down</a:t>
            </a:r>
            <a:b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</a:b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Hecho Por Adrian Hidalgo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79" name="Google Shape;279;p48" title="WhatsApp Image 2025-11-30 at 7.36.21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985" y="908100"/>
            <a:ext cx="7062029" cy="423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 txBox="1"/>
          <p:nvPr>
            <p:ph type="ctrTitle"/>
          </p:nvPr>
        </p:nvSpPr>
        <p:spPr>
          <a:xfrm>
            <a:off x="243025" y="0"/>
            <a:ext cx="8520600" cy="9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Planos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: Planos del edificio</a:t>
            </a:r>
            <a:b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</a:b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Hecho Por Franco Quaremba y Rodrigo Acevedo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85" name="Google Shape;285;p49" title="Planos Edificio-Piso 1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762" y="845100"/>
            <a:ext cx="3385820" cy="2149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 title="Planos Edificio-Piso 2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7589" y="845100"/>
            <a:ext cx="3634647" cy="2149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 title="Planos Edificio-Piso 3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8384" y="2994303"/>
            <a:ext cx="3187231" cy="2149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0"/>
          <p:cNvSpPr txBox="1"/>
          <p:nvPr>
            <p:ph type="ctrTitle"/>
          </p:nvPr>
        </p:nvSpPr>
        <p:spPr>
          <a:xfrm>
            <a:off x="243025" y="0"/>
            <a:ext cx="8520600" cy="9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Word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: Manual de Usuario</a:t>
            </a:r>
            <a:b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</a:b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Hecho Por Adrian Hidalgo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93" name="Google Shape;293;p50" title="Captura de pantalla (112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625" y="1212900"/>
            <a:ext cx="8080762" cy="39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1"/>
          <p:cNvSpPr txBox="1"/>
          <p:nvPr>
            <p:ph type="ctrTitle"/>
          </p:nvPr>
        </p:nvSpPr>
        <p:spPr>
          <a:xfrm>
            <a:off x="243025" y="0"/>
            <a:ext cx="8520600" cy="9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UML</a:t>
            </a: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: Base de datos</a:t>
            </a:r>
            <a:b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</a:br>
            <a:r>
              <a:rPr lang="es-419" sz="2500">
                <a:solidFill>
                  <a:schemeClr val="lt1"/>
                </a:solidFill>
                <a:highlight>
                  <a:schemeClr val="dk1"/>
                </a:highlight>
              </a:rPr>
              <a:t>Hecho Por Adrian Hidalgo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99" name="Google Shape;299;p51" title="Base de datos Proyect Interdiciplinario 5°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9200" y="1464313"/>
            <a:ext cx="9182377" cy="2214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